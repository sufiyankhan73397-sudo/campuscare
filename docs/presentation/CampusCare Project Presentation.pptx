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</ns0:sldIdLst>
  <ns0:sldSz cx="12192000" cy="6858000" type="screen4x3"/>
  <ns0:notesSz cx="6858000" cy="9144000"/>
  <ns0:embeddedFontLst>
    <ns0:embeddedFont>
      <ns0:font typeface="Inter"/>
      <ns0:bold ns1:id="rIdFont26"/>
      <ns0:regular ns1:id="rIdFont27"/>
    </ns0:embeddedFont>
    <ns0:embeddedFont>
      <ns0:font typeface="Montserrat"/>
      <ns0:bold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Font26" Type="http://schemas.openxmlformats.org/officeDocument/2006/relationships/font" Target="fonts/cd9b52e0-8cc0-4d7d-8d62-c6ef10c96570.fntdata" /><ns0:Relationship Id="rIdFont27" Type="http://schemas.openxmlformats.org/officeDocument/2006/relationships/font" Target="fonts/d390fae6-24dd-4690-84c8-fa29f72622fd.fntdata" /><ns0:Relationship Id="rIdFont28" Type="http://schemas.openxmlformats.org/officeDocument/2006/relationships/font" Target="fonts/9f2d67ed-2be6-45da-aae8-5a4aad9894f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3208139"/>
            <a:ext cx="762000" cy="38100"/>
          </a:xfrm>
          <a:prstGeom prst="rect">
            <a:avLst/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7989" y="1811833"/>
            <a:ext cx="8176021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Montserrat"/>
              </a:rPr>
              <a:t>CampusCare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2656" y="2627114"/>
            <a:ext cx="7786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8FAFC"/>
                </a:solidFill>
                <a:latin typeface="Inter"/>
              </a:rPr>
              <a:t>Smart Campus Issue Management and Resolution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7162" y="3551039"/>
            <a:ext cx="1785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A97B0"/>
                </a:solidFill>
                <a:latin typeface="Inter"/>
              </a:rP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7162" y="3827264"/>
            <a:ext cx="1524000" cy="1218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E2E8F0"/>
                </a:solidFill>
                <a:latin typeface="Inter"/>
              </a:rPr>
              <a:t>Sufiyan Khan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Sufiyan Nagori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Roshan Jat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Sumit Yadav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Divyanshu Geel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3112" y="3551039"/>
            <a:ext cx="2964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A97B0"/>
                </a:solidFill>
                <a:latin typeface="Inter"/>
              </a:rPr>
              <a:t>PROJECT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3112" y="3827264"/>
            <a:ext cx="2466975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E2E8F0"/>
                </a:solidFill>
                <a:latin typeface="Inter"/>
              </a:rPr>
              <a:t>Portal ID: PBL2627-AI&amp;DS-C-021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Branch: AI&amp;DS-C (2026–27)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Guide: Er. Ram Babu Buri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Inter"/>
              </a:rPr>
              <a:t> [College Name Placeholder]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924050"/>
            <a:ext cx="5372100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23270"/>
            <a:ext cx="25717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480470"/>
            <a:ext cx="200025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166270"/>
            <a:ext cx="2286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391275"/>
            <a:ext cx="1047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0950" y="6391275"/>
            <a:ext cx="457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025104"/>
            <a:ext cx="5740717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B192C"/>
                </a:solidFill>
                <a:latin typeface="Montserrat"/>
              </a:rPr>
              <a:t>Digitizing campus issue resolution.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061245"/>
            <a:ext cx="54673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CampusCare replaces fragmented manual reporting with a unified Windows desktop application.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3994695"/>
            <a:ext cx="63055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Format:</a:t>
            </a:r>
            <a:r>
              <a:rPr b="1" sz="1800" i="0" u="none">
                <a:solidFill>
                  <a:srgbClr val="0A97B0"/>
                </a:solidFill>
                <a:latin typeface="Inter"/>
              </a:rPr>
              <a:t> Native Windows desktop executable.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4451895"/>
            <a:ext cx="51149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Routing:</a:t>
            </a:r>
            <a:r>
              <a:rPr b="1" sz="1800" i="0" u="none">
                <a:solidFill>
                  <a:srgbClr val="0A97B0"/>
                </a:solidFill>
                <a:latin typeface="Inter"/>
              </a:rPr>
              <a:t> Automated department-level ticket dispatch.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5137695"/>
            <a:ext cx="50863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Scope:</a:t>
            </a:r>
            <a:r>
              <a:rPr b="1" sz="1800" i="0" u="none">
                <a:solidFill>
                  <a:srgbClr val="0A97B0"/>
                </a:solidFill>
                <a:latin typeface="Inter"/>
              </a:rPr>
              <a:t> End-to-end local infrastructure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0300" y="1950839"/>
            <a:ext cx="2571750" cy="1763910"/>
          </a:xfrm>
          <a:prstGeom prst="roundRect">
            <a:avLst>
              <a:gd name="adj" fmla="val 64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10650" y="1950839"/>
            <a:ext cx="2571750" cy="1763910"/>
          </a:xfrm>
          <a:prstGeom prst="roundRect">
            <a:avLst>
              <a:gd name="adj" fmla="val 64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943350"/>
            <a:ext cx="2571750" cy="1763910"/>
          </a:xfrm>
          <a:prstGeom prst="roundRect">
            <a:avLst>
              <a:gd name="adj" fmla="val 64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943350"/>
            <a:ext cx="2571750" cy="1763910"/>
          </a:xfrm>
          <a:prstGeom prst="roundRect">
            <a:avLst>
              <a:gd name="adj" fmla="val 64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3550"/>
            <a:ext cx="5372100" cy="419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255639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450" y="2255639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42481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50" y="424815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7975" y="2388989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2388989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75" y="4381500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4987" y="4381500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The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391275"/>
            <a:ext cx="15120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10950" y="6391275"/>
            <a:ext cx="457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2865239"/>
            <a:ext cx="25753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92C"/>
                </a:solidFill>
                <a:latin typeface="Montserrat"/>
              </a:rPr>
              <a:t>Messaging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170039"/>
            <a:ext cx="2452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Lost in chat history.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5450" y="2865239"/>
            <a:ext cx="25753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92C"/>
                </a:solidFill>
                <a:latin typeface="Montserrat"/>
              </a:rPr>
              <a:t>Phone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5450" y="3170039"/>
            <a:ext cx="2452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No verifiable record.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4857750"/>
            <a:ext cx="25753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92C"/>
                </a:solidFill>
                <a:latin typeface="Montserrat"/>
              </a:rPr>
              <a:t>Registers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5100" y="5162550"/>
            <a:ext cx="2452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Slow manual tracking.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5450" y="4857750"/>
            <a:ext cx="257532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92C"/>
                </a:solidFill>
                <a:latin typeface="Montserrat"/>
              </a:rPr>
              <a:t>Verbal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5450" y="5162550"/>
            <a:ext cx="245268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Zero accountability.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924050"/>
            <a:ext cx="5372100" cy="3810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924050"/>
            <a:ext cx="53721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647950"/>
            <a:ext cx="304800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581400"/>
            <a:ext cx="3048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514850"/>
            <a:ext cx="304800" cy="3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391275"/>
            <a:ext cx="14525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0950" y="6391275"/>
            <a:ext cx="457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619375"/>
            <a:ext cx="348853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Centralized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2971800"/>
            <a:ext cx="3488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Single hub for all complaints.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552825"/>
            <a:ext cx="2857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Automated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905250"/>
            <a:ext cx="285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Direct department mapping.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486275"/>
            <a:ext cx="29884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Inter"/>
              </a:rPr>
              <a:t>Transparent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838700"/>
            <a:ext cx="2988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Real-time status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1638300"/>
            <a:ext cx="7620000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2790825"/>
            <a:ext cx="7620000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3943350"/>
            <a:ext cx="7620000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5095875"/>
            <a:ext cx="7620000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381000" y="457200"/>
            <a:ext cx="12954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B192C"/>
                </a:solidFill>
                <a:latin typeface="Montserrat"/>
              </a:rPr>
              <a:t>Project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391275"/>
            <a:ext cx="9810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0475" y="6391275"/>
            <a:ext cx="447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866900"/>
            <a:ext cx="85725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A97B0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4700" y="1976437"/>
            <a:ext cx="463153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Digitize manual complaint reporting.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019425"/>
            <a:ext cx="85725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A97B0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4700" y="3128962"/>
            <a:ext cx="44053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Improve operational transparency.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4171950"/>
            <a:ext cx="85725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A97B0"/>
                </a:solidFill>
                <a:latin typeface="Inter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4700" y="4281487"/>
            <a:ext cx="483393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Increase departmental accountability.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5324475"/>
            <a:ext cx="85725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A97B0"/>
                </a:solidFill>
                <a:latin typeface="Inter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4700" y="5434012"/>
            <a:ext cx="54887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Inter"/>
              </a:rPr>
              <a:t>Support data-driven campus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57300"/>
            <a:ext cx="5372100" cy="5143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257300"/>
            <a:ext cx="5372100" cy="5143500"/>
          </a:xfrm>
          <a:prstGeom prst="roundRect">
            <a:avLst>
              <a:gd name="adj" fmla="val 2222"/>
            </a:avLst>
          </a:prstGeom>
          <a:solidFill>
            <a:srgbClr val="FF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257300"/>
            <a:ext cx="5372100" cy="57150"/>
          </a:xfrm>
          <a:prstGeom prst="rect">
            <a:avLst/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0300" y="1257300"/>
            <a:ext cx="5372100" cy="571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52650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71750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90850"/>
            <a:ext cx="2000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09950"/>
            <a:ext cx="2000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152650"/>
            <a:ext cx="17145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571750"/>
            <a:ext cx="1714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990850"/>
            <a:ext cx="17145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409950"/>
            <a:ext cx="171450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Project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391275"/>
            <a:ext cx="1583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Scope &amp; 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0950" y="6391275"/>
            <a:ext cx="457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1619250"/>
            <a:ext cx="625078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B192C"/>
                </a:solidFill>
                <a:latin typeface="Montserrat"/>
              </a:rPr>
              <a:t>In Scope (Implemented)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1619250"/>
            <a:ext cx="56769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B192C"/>
                </a:solidFill>
                <a:latin typeface="Montserrat"/>
              </a:rPr>
              <a:t>Out of Scope (Future)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6825" y="2124075"/>
            <a:ext cx="56007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Windows Desktop environment.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6825" y="2543175"/>
            <a:ext cx="56007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3 Roles (Admin, Staff, Student).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6825" y="2962275"/>
            <a:ext cx="56007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7 core functional modules.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6825" y="3381375"/>
            <a:ext cx="56007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Local SQLite database.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8950" y="2124075"/>
            <a:ext cx="53530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Inter"/>
              </a:rPr>
              <a:t>Web or mobile applications.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8950" y="2543175"/>
            <a:ext cx="53530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Inter"/>
              </a:rPr>
              <a:t>Cloud/centralized databases.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8950" y="2962275"/>
            <a:ext cx="53530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Inter"/>
              </a:rPr>
              <a:t>External SMS/Email gateways.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8950" y="3381375"/>
            <a:ext cx="535305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Inter"/>
              </a:rPr>
              <a:t>Multi-campus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62162"/>
            <a:ext cx="10972800" cy="35337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062162"/>
          <a:ext cx="10972800" cy="35337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43200"/>
                <a:gridCol w="4114800"/>
                <a:gridCol w="4114800"/>
              </a:tblGrid>
              <a:tr h="58896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Montserrat"/>
                        </a:rPr>
                        <a:t>Feature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Montserrat"/>
                        </a:rPr>
                        <a:t>Existing Methods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Montserrat"/>
                        </a:rPr>
                        <a:t>CampusCare (Proposed)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97B0"/>
                    </a:solidFill>
                  </a:tcPr>
                </a:tc>
              </a:tr>
              <a:tr h="58896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Inter"/>
                        </a:rPr>
                        <a:t>Records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nter"/>
                        </a:rPr>
                        <a:t>Scattered or unrecorded.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nter"/>
                        </a:rPr>
                        <a:t>Centralized SQLite database.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896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Inter"/>
                        </a:rPr>
                        <a:t>Status Tracking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nter"/>
                        </a:rPr>
                        <a:t>Manual follow-ups required.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nter"/>
                        </a:rPr>
                        <a:t>Real-time lifecycle tracking.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896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Inter"/>
                        </a:rPr>
                        <a:t>Assignment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nter"/>
                        </a:rPr>
                        <a:t>Ambiguous responsibility.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nter"/>
                        </a:rPr>
                        <a:t>Direct department mapping.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896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Inter"/>
                        </a:rPr>
                        <a:t>Feedback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nter"/>
                        </a:rPr>
                        <a:t>No structured mechanism.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nter"/>
                        </a:rPr>
                        <a:t>Post-resolution rating system.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8896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E293B"/>
                          </a:solidFill>
                          <a:latin typeface="Inter"/>
                        </a:rPr>
                        <a:t>Analytics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nter"/>
                        </a:rPr>
                        <a:t>Impossible to aggregate.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nter"/>
                        </a:rPr>
                        <a:t>Automated trend reports.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System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91275"/>
            <a:ext cx="1690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Existing vs Proposed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20475" y="6391275"/>
            <a:ext cx="447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19250" y="1369962"/>
            <a:ext cx="285750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67250" y="1369962"/>
            <a:ext cx="285750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15250" y="1369962"/>
            <a:ext cx="285750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19250" y="3147863"/>
            <a:ext cx="285750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67250" y="3147863"/>
            <a:ext cx="285750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15250" y="3147863"/>
            <a:ext cx="285750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7250" y="4925764"/>
            <a:ext cx="2857500" cy="1362075"/>
          </a:xfrm>
          <a:prstGeom prst="roundRect">
            <a:avLst>
              <a:gd name="adj" fmla="val 839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650" y="1598562"/>
            <a:ext cx="2667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598562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600" y="1598562"/>
            <a:ext cx="3048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3376463"/>
            <a:ext cx="3048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650" y="3376463"/>
            <a:ext cx="2667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550" y="3376463"/>
            <a:ext cx="3429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2650" y="5154364"/>
            <a:ext cx="2667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Functional 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391275"/>
            <a:ext cx="13525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System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0950" y="6391275"/>
            <a:ext cx="457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5385" y="2055762"/>
            <a:ext cx="182522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Montserrat"/>
              </a:rPr>
              <a:t>Security &amp;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8343" y="2341512"/>
            <a:ext cx="2119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Role-based access control.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0846" y="2055762"/>
            <a:ext cx="2450306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Montserrat"/>
              </a:rPr>
              <a:t>Complaint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7281" y="2341512"/>
            <a:ext cx="23574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Categorized issue submission.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6364" y="2055762"/>
            <a:ext cx="217527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Montserrat"/>
              </a:rPr>
              <a:t>Tracking &amp;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1265" y="2341512"/>
            <a:ext cx="1845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Real-time lifecycle logs.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16633" y="3833663"/>
            <a:ext cx="186273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Montserrat"/>
              </a:rPr>
              <a:t>Staff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2859" y="4119413"/>
            <a:ext cx="2250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Task assignment dashboard.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4602" y="3833663"/>
            <a:ext cx="236279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Montserrat"/>
              </a:rPr>
              <a:t>In-App Notifications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4234" y="4119413"/>
            <a:ext cx="1583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Instant status alerts.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1342" y="3833663"/>
            <a:ext cx="252531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Montserrat"/>
              </a:rPr>
              <a:t>Analytics &amp;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4578" y="4119413"/>
            <a:ext cx="217884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Post-resolution user ratings.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5850" y="5611564"/>
            <a:ext cx="24003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Montserrat"/>
              </a:rPr>
              <a:t>Admin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30390" y="5897314"/>
            <a:ext cx="21312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System and user oversight.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57300"/>
            <a:ext cx="3505200" cy="514350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257300"/>
            <a:ext cx="3505200" cy="514350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257300"/>
            <a:ext cx="3505200" cy="5143500"/>
          </a:xfrm>
          <a:prstGeom prst="roundRect">
            <a:avLst>
              <a:gd name="adj" fmla="val 3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38300"/>
            <a:ext cx="762000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638300"/>
            <a:ext cx="762000" cy="76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1638300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1866900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1866900"/>
            <a:ext cx="3810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400" y="1866900"/>
            <a:ext cx="3048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User Roles &amp; Responsibilities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391275"/>
            <a:ext cx="1500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Roles &amp; Use Cases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0950" y="6391275"/>
            <a:ext cx="457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2118" y="2628900"/>
            <a:ext cx="13001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Montserrat"/>
              </a:rPr>
              <a:t>Student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5945" y="2628900"/>
            <a:ext cx="88011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Montserrat"/>
              </a:rPr>
              <a:t>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9728" y="2628900"/>
            <a:ext cx="114014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293B"/>
                </a:solidFill>
                <a:latin typeface="Montserrat"/>
              </a:rPr>
              <a:t>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778" y="3057525"/>
            <a:ext cx="2940843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Submit complaints.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778" y="3366045"/>
            <a:ext cx="2940843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Track active status.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778" y="3674566"/>
            <a:ext cx="2940843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Provide resolution feedback.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9421" y="3057525"/>
            <a:ext cx="2393156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Accept assigned tasks.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9421" y="3366045"/>
            <a:ext cx="2393156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Update issue progress.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9421" y="3674566"/>
            <a:ext cx="2393156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Mark as resolved.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7268" y="3057525"/>
            <a:ext cx="2405062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Manage user accounts.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27268" y="3366045"/>
            <a:ext cx="2405062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Configure categories.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7268" y="3674566"/>
            <a:ext cx="2405062" cy="308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2429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View system analytics.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28825"/>
            <a:ext cx="257175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028825"/>
            <a:ext cx="257175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028825"/>
            <a:ext cx="257175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028825"/>
            <a:ext cx="257175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943350"/>
            <a:ext cx="257175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9950" y="3943350"/>
            <a:ext cx="257175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0300" y="3943350"/>
            <a:ext cx="257175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10650" y="3943350"/>
            <a:ext cx="2571750" cy="1685925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2333625"/>
            <a:ext cx="3429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2333625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150" y="2333625"/>
            <a:ext cx="4000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0775" y="2333625"/>
            <a:ext cx="5715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4025" y="4248150"/>
            <a:ext cx="3429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800" y="4248150"/>
            <a:ext cx="40005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150" y="4248150"/>
            <a:ext cx="40005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0775" y="4248150"/>
            <a:ext cx="5715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Technology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391275"/>
            <a:ext cx="2250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Approved Technology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9525" y="6391275"/>
            <a:ext cx="428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410" y="2943225"/>
            <a:ext cx="10301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Montserrat"/>
              </a:rPr>
              <a:t>Java 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" y="3248025"/>
            <a:ext cx="2286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High-performance core logic.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4464" y="2943225"/>
            <a:ext cx="1762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Montserrat"/>
              </a:rPr>
              <a:t>JavaFX &amp; CSS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3793" y="3248025"/>
            <a:ext cx="2024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Hardware-accelerated UI.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3554" y="2943225"/>
            <a:ext cx="1925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Montserrat"/>
              </a:rPr>
              <a:t>SQLite &amp; JDBC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4612" y="3248025"/>
            <a:ext cx="2143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Zero-configuration storage.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6462" y="2943225"/>
            <a:ext cx="1000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Montserrat"/>
              </a:rPr>
              <a:t>Maven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4259" y="3248025"/>
            <a:ext cx="19645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Dependency automation.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5420" y="4857750"/>
            <a:ext cx="88011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Montserrat"/>
              </a:rPr>
              <a:t>FXML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115" y="5162550"/>
            <a:ext cx="194071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Decoupled view markup.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0760" y="4857750"/>
            <a:ext cx="10301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Montserrat"/>
              </a:rPr>
              <a:t>BCrypt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6668" y="5162550"/>
            <a:ext cx="1738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Cryptographic salting.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6096" y="4857750"/>
            <a:ext cx="126015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Montserrat"/>
              </a:rPr>
              <a:t>jpackage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5112" y="5162550"/>
            <a:ext cx="1762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Native OS executable.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06451" y="4857750"/>
            <a:ext cx="118014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Montserrat"/>
              </a:rPr>
              <a:t>VS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4493" y="5162550"/>
            <a:ext cx="2024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Inter"/>
              </a:rPr>
              <a:t>Primary development 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1485900"/>
            <a:ext cx="7620000" cy="609600"/>
          </a:xfrm>
          <a:prstGeom prst="roundRect">
            <a:avLst>
              <a:gd name="adj" fmla="val 12500"/>
            </a:avLst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48000" y="2476500"/>
            <a:ext cx="60960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9050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48000" y="3505200"/>
            <a:ext cx="6096000" cy="647700"/>
          </a:xfrm>
          <a:prstGeom prst="roundRect">
            <a:avLst>
              <a:gd name="adj" fmla="val 11764"/>
            </a:avLst>
          </a:prstGeom>
          <a:solidFill>
            <a:srgbClr val="E0F0F4"/>
          </a:solidFill>
          <a:ln w="19050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48000" y="4533900"/>
            <a:ext cx="6096000" cy="647700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19050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5562600"/>
            <a:ext cx="7620000" cy="609600"/>
          </a:xfrm>
          <a:prstGeom prst="roundRect">
            <a:avLst>
              <a:gd name="adj" fmla="val 12500"/>
            </a:avLst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2171700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3200400"/>
            <a:ext cx="1714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4229100"/>
            <a:ext cx="1714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5257800"/>
            <a:ext cx="1714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5772150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16764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Presentation Layer (JavaFX / FXML / CSS)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500" y="2667000"/>
            <a:ext cx="723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B192C"/>
                </a:solidFill>
                <a:latin typeface="Inter"/>
              </a:rPr>
              <a:t>Controller Layer (Event Handling)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6500" y="3695700"/>
            <a:ext cx="723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B192C"/>
                </a:solidFill>
                <a:latin typeface="Inter"/>
              </a:rPr>
              <a:t>Service Layer (Business Logic &amp; Auth)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76500" y="4724400"/>
            <a:ext cx="723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B192C"/>
                </a:solidFill>
                <a:latin typeface="Inter"/>
              </a:rPr>
              <a:t>DAO Layer (Data Access Objects via JDBC)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391275"/>
            <a:ext cx="166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Layered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68100" y="6391275"/>
            <a:ext cx="4000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5312" y="5753100"/>
            <a:ext cx="36671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SQLite Database (Local Storage)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71550" y="2968228"/>
            <a:ext cx="2286000" cy="1721643"/>
          </a:xfrm>
          <a:prstGeom prst="roundRect">
            <a:avLst>
              <a:gd name="adj" fmla="val 6639"/>
            </a:avLst>
          </a:prstGeom>
          <a:solidFill>
            <a:srgbClr val="FFFFFF"/>
          </a:solidFill>
          <a:ln w="19050">
            <a:solidFill>
              <a:srgbClr val="0B1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62500" y="2848272"/>
            <a:ext cx="2667000" cy="1961554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 w="19050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600" y="2987278"/>
            <a:ext cx="2247900" cy="419100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81550" y="2867322"/>
            <a:ext cx="2628900" cy="419100"/>
          </a:xfrm>
          <a:prstGeom prst="rect">
            <a:avLst/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34450" y="2352972"/>
            <a:ext cx="2286000" cy="1241821"/>
          </a:xfrm>
          <a:prstGeom prst="roundRect">
            <a:avLst>
              <a:gd name="adj" fmla="val 9204"/>
            </a:avLst>
          </a:prstGeom>
          <a:solidFill>
            <a:srgbClr val="FFFFFF"/>
          </a:solidFill>
          <a:ln w="19050">
            <a:solidFill>
              <a:srgbClr val="0B19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34450" y="3823394"/>
            <a:ext cx="2286000" cy="1481732"/>
          </a:xfrm>
          <a:prstGeom prst="roundRect">
            <a:avLst>
              <a:gd name="adj" fmla="val 7713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53500" y="2372022"/>
            <a:ext cx="2247900" cy="419100"/>
          </a:xfrm>
          <a:prstGeom prst="rect">
            <a:avLst/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0" y="3842444"/>
            <a:ext cx="2247900" cy="4191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150" y="3714750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00" y="3714750"/>
            <a:ext cx="28575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Database Entities (Core ER Model)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391275"/>
            <a:ext cx="1488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Simplified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9525" y="6391275"/>
            <a:ext cx="428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912" y="3101578"/>
            <a:ext cx="25812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58778"/>
            <a:ext cx="2038350" cy="959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1E293B"/>
                </a:solidFill>
                <a:latin typeface="Inter"/>
              </a:rPr>
              <a:t>PK user_id</a:t>
            </a:r>
            <a:r>
              <a:t>
</a:t>
            </a:r>
            <a:r>
              <a:rPr b="1" sz="1050" i="0" u="none">
                <a:solidFill>
                  <a:srgbClr val="1E293B"/>
                </a:solidFill>
                <a:latin typeface="Inter"/>
              </a:rPr>
              <a:t>username</a:t>
            </a:r>
            <a:r>
              <a:t>
</a:t>
            </a:r>
            <a:r>
              <a:rPr b="1" sz="1050" i="0" u="none">
                <a:solidFill>
                  <a:srgbClr val="1E293B"/>
                </a:solidFill>
                <a:latin typeface="Inter"/>
              </a:rPr>
              <a:t>password_hash</a:t>
            </a:r>
            <a:r>
              <a:t>
</a:t>
            </a:r>
            <a:r>
              <a:rPr b="1" sz="1050" i="0" u="none">
                <a:solidFill>
                  <a:srgbClr val="1E293B"/>
                </a:solidFill>
                <a:latin typeface="Inter"/>
              </a:rPr>
              <a:t>role (Enum)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7237" y="2981622"/>
            <a:ext cx="3057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COMPLAINTS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3950" y="3438822"/>
            <a:ext cx="2419350" cy="11995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1E293B"/>
                </a:solidFill>
                <a:latin typeface="Inter"/>
              </a:rPr>
              <a:t>PK complaint_id</a:t>
            </a:r>
            <a:r>
              <a:t>
</a:t>
            </a:r>
            <a:r>
              <a:rPr b="1" sz="1050" i="0" u="none">
                <a:solidFill>
                  <a:srgbClr val="1E293B"/>
                </a:solidFill>
                <a:latin typeface="Inter"/>
              </a:rPr>
              <a:t>FK user_id (Student)</a:t>
            </a:r>
            <a:r>
              <a:t>
</a:t>
            </a:r>
            <a:r>
              <a:rPr b="1" sz="1050" i="0" u="none">
                <a:solidFill>
                  <a:srgbClr val="1E293B"/>
                </a:solidFill>
                <a:latin typeface="Inter"/>
              </a:rPr>
              <a:t>FK dept_id</a:t>
            </a:r>
            <a:r>
              <a:t>
</a:t>
            </a:r>
            <a:r>
              <a:rPr b="1" sz="1050" i="0" u="none">
                <a:solidFill>
                  <a:srgbClr val="1E293B"/>
                </a:solidFill>
                <a:latin typeface="Inter"/>
              </a:rPr>
              <a:t>status, priority</a:t>
            </a:r>
            <a:r>
              <a:t>
</a:t>
            </a:r>
            <a:r>
              <a:rPr b="1" sz="1050" i="0" u="none">
                <a:solidFill>
                  <a:srgbClr val="1E293B"/>
                </a:solidFill>
                <a:latin typeface="Inter"/>
              </a:rPr>
              <a:t>title, 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6812" y="2486322"/>
            <a:ext cx="25812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DEPARTMENTS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5900" y="2943522"/>
            <a:ext cx="20383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1E293B"/>
                </a:solidFill>
                <a:latin typeface="Inter"/>
              </a:rPr>
              <a:t>PK dept_id</a:t>
            </a:r>
            <a:r>
              <a:t>
</a:t>
            </a:r>
            <a:r>
              <a:rPr b="1" sz="1050" i="0" u="none">
                <a:solidFill>
                  <a:srgbClr val="1E293B"/>
                </a:solidFill>
                <a:latin typeface="Inter"/>
              </a:rPr>
              <a:t>dept_name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86812" y="3956744"/>
            <a:ext cx="25812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HISTORY /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5900" y="4413944"/>
            <a:ext cx="203835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050" i="0" u="none">
                <a:solidFill>
                  <a:srgbClr val="1E293B"/>
                </a:solidFill>
                <a:latin typeface="Inter"/>
              </a:rPr>
              <a:t>PK history_id</a:t>
            </a:r>
            <a:r>
              <a:t>
</a:t>
            </a:r>
            <a:r>
              <a:rPr b="1" sz="1050" i="0" u="none">
                <a:solidFill>
                  <a:srgbClr val="1E293B"/>
                </a:solidFill>
                <a:latin typeface="Inter"/>
              </a:rPr>
              <a:t>FK complaint_id</a:t>
            </a:r>
            <a:r>
              <a:t>
</a:t>
            </a:r>
            <a:r>
              <a:rPr b="1" sz="1050" i="0" u="none">
                <a:solidFill>
                  <a:srgbClr val="1E293B"/>
                </a:solidFill>
                <a:latin typeface="Inter"/>
              </a:rPr>
              <a:t>status_change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219575"/>
            <a:ext cx="10972800" cy="552450"/>
          </a:xfrm>
          <a:prstGeom prst="roundRect">
            <a:avLst>
              <a:gd name="adj" fmla="val 13793"/>
            </a:avLst>
          </a:prstGeom>
          <a:noFill/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Complaint Lifecycle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04800" y="4371975"/>
            <a:ext cx="12801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latin typeface="Inter"/>
              </a:rPr>
              <a:t>Reopening Path:</a:t>
            </a:r>
            <a:r>
              <a:rPr b="1" sz="1350" i="0" u="none">
                <a:solidFill>
                  <a:srgbClr val="0B192C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0B192C"/>
                </a:solidFill>
                <a:latin typeface="Inter"/>
              </a:rPr>
              <a:t>RESOLVED → REOPENED (by Student) → ASSIGNED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91275"/>
            <a:ext cx="18811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Designed Process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9525" y="6391275"/>
            <a:ext cx="428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600" y="3248025"/>
            <a:ext cx="102108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85850" y="2886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3620" y="2886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41391" y="2886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69162" y="2886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96932" y="2886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724703" y="28860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975" y="28860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912" y="3419475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B192C"/>
                </a:solidFill>
                <a:latin typeface="Inter"/>
              </a:rPr>
              <a:t>SUBMITTED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0745" y="28860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0683" y="3419475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A97B0"/>
                </a:solidFill>
                <a:latin typeface="Inter"/>
              </a:rPr>
              <a:t>ASSIGNED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8516" y="28860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8453" y="3419475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A97B0"/>
                </a:solidFill>
                <a:latin typeface="Inter"/>
              </a:rPr>
              <a:t>ACCEPTED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6287" y="28860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6224" y="3419475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A97B0"/>
                </a:solidFill>
                <a:latin typeface="Inter"/>
              </a:rPr>
              <a:t>IN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057" y="28860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Inter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3995" y="3419475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RESOLVED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81828" y="2886075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1766" y="3419475"/>
            <a:ext cx="1666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Inter"/>
              </a:rPr>
              <a:t>CLOSED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57300"/>
            <a:ext cx="5372100" cy="2305050"/>
          </a:xfrm>
          <a:prstGeom prst="roundRect">
            <a:avLst>
              <a:gd name="adj" fmla="val 4958"/>
            </a:avLst>
          </a:prstGeom>
          <a:solidFill>
            <a:srgbClr val="F3F8FA"/>
          </a:solidFill>
          <a:ln w="19050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257300"/>
            <a:ext cx="5372100" cy="2305050"/>
          </a:xfrm>
          <a:prstGeom prst="roundRect">
            <a:avLst>
              <a:gd name="adj" fmla="val 4958"/>
            </a:avLst>
          </a:prstGeom>
          <a:solidFill>
            <a:srgbClr val="F3F8FA"/>
          </a:solidFill>
          <a:ln w="19050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790950"/>
            <a:ext cx="5372100" cy="2305050"/>
          </a:xfrm>
          <a:prstGeom prst="roundRect">
            <a:avLst>
              <a:gd name="adj" fmla="val 4958"/>
            </a:avLst>
          </a:prstGeom>
          <a:solidFill>
            <a:srgbClr val="F3F8FA"/>
          </a:solidFill>
          <a:ln w="19050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790950"/>
            <a:ext cx="5372100" cy="2305050"/>
          </a:xfrm>
          <a:prstGeom prst="roundRect">
            <a:avLst>
              <a:gd name="adj" fmla="val 4958"/>
            </a:avLst>
          </a:prstGeom>
          <a:solidFill>
            <a:srgbClr val="F3F8FA"/>
          </a:solidFill>
          <a:ln w="19050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0" y="206692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950" y="206692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200" y="4600575"/>
            <a:ext cx="3429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2050" y="4600575"/>
            <a:ext cx="2286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UI Workflow (Placeholders)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391275"/>
            <a:ext cx="13144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Interface Mocks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9525" y="6391275"/>
            <a:ext cx="428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5500" y="2524125"/>
            <a:ext cx="31503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97B0"/>
                </a:solidFill>
                <a:latin typeface="Montserrat"/>
              </a:rPr>
              <a:t>[Login / Registration UI]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7100" y="2524125"/>
            <a:ext cx="4250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97B0"/>
                </a:solidFill>
                <a:latin typeface="Montserrat"/>
              </a:rPr>
              <a:t>[Student Dashboard &amp; Tracking]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225" y="5057775"/>
            <a:ext cx="392549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97B0"/>
                </a:solidFill>
                <a:latin typeface="Montserrat"/>
              </a:rPr>
              <a:t>[Complaint Submission Form]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8112" y="5057775"/>
            <a:ext cx="298787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A97B0"/>
                </a:solidFill>
                <a:latin typeface="Montserrat"/>
              </a:rPr>
              <a:t>[Staff Task Dashboard]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14821" y="1952625"/>
            <a:ext cx="5266878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952625"/>
            <a:ext cx="5266878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4821" y="4638675"/>
            <a:ext cx="5266878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638675"/>
            <a:ext cx="5266878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621" y="233362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333625"/>
            <a:ext cx="2667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621" y="5019675"/>
            <a:ext cx="3810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5019675"/>
            <a:ext cx="2667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Security &amp; Non-Functional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391275"/>
            <a:ext cx="1333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System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49050" y="6391275"/>
            <a:ext cx="4191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4921" y="2257425"/>
            <a:ext cx="36504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92C"/>
                </a:solidFill>
                <a:latin typeface="Montserrat"/>
              </a:rPr>
              <a:t>Password Hashing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4921" y="2524125"/>
            <a:ext cx="3476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BCrypt algorithm with dynamic salting.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2257425"/>
            <a:ext cx="398799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92C"/>
                </a:solidFill>
                <a:latin typeface="Montserrat"/>
              </a:rPr>
              <a:t>SQL Injection Prevention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2300" y="2524125"/>
            <a:ext cx="3798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Parameterized JDBC PreparedStatements.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91121" y="4943475"/>
            <a:ext cx="3000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92C"/>
                </a:solidFill>
                <a:latin typeface="Montserrat"/>
              </a:rPr>
              <a:t>Role-Based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121" y="5210175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Strict UI and database isolation.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4943475"/>
            <a:ext cx="351293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B192C"/>
                </a:solidFill>
                <a:latin typeface="Montserrat"/>
              </a:rPr>
              <a:t>Input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2300" y="5210175"/>
            <a:ext cx="3345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Strict JavaFX regex form constraints.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57300"/>
            <a:ext cx="10972800" cy="1133475"/>
          </a:xfrm>
          <a:prstGeom prst="roundRect">
            <a:avLst>
              <a:gd name="adj" fmla="val 10084"/>
            </a:avLst>
          </a:prstGeom>
          <a:solidFill>
            <a:srgbClr val="0B1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95575"/>
            <a:ext cx="2628900" cy="1394221"/>
          </a:xfrm>
          <a:prstGeom prst="roundRect">
            <a:avLst>
              <a:gd name="adj" fmla="val 81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0900" y="2695575"/>
            <a:ext cx="2628900" cy="1394221"/>
          </a:xfrm>
          <a:prstGeom prst="roundRect">
            <a:avLst>
              <a:gd name="adj" fmla="val 81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2695575"/>
            <a:ext cx="2628900" cy="1394221"/>
          </a:xfrm>
          <a:prstGeom prst="roundRect">
            <a:avLst>
              <a:gd name="adj" fmla="val 81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500" y="2695575"/>
            <a:ext cx="2628900" cy="1394221"/>
          </a:xfrm>
          <a:prstGeom prst="roundRect">
            <a:avLst>
              <a:gd name="adj" fmla="val 81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695575"/>
            <a:ext cx="2628900" cy="38100"/>
          </a:xfrm>
          <a:prstGeom prst="rect">
            <a:avLst/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0900" y="2695575"/>
            <a:ext cx="2628900" cy="38100"/>
          </a:xfrm>
          <a:prstGeom prst="rect">
            <a:avLst/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2695575"/>
            <a:ext cx="2628900" cy="38100"/>
          </a:xfrm>
          <a:prstGeom prst="rect">
            <a:avLst/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53500" y="2695575"/>
            <a:ext cx="2628900" cy="38100"/>
          </a:xfrm>
          <a:prstGeom prst="rect">
            <a:avLst/>
          </a:prstGeom>
          <a:solidFill>
            <a:srgbClr val="0A9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End-to-End Acceptance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391275"/>
            <a:ext cx="2238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Planned System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9525" y="6391275"/>
            <a:ext cx="428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562100"/>
            <a:ext cx="112776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A97B0"/>
                </a:solidFill>
                <a:latin typeface="Montserrat"/>
              </a:rPr>
              <a:t>Test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57375"/>
            <a:ext cx="112776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FFFFF"/>
                </a:solidFill>
                <a:latin typeface="Inter"/>
              </a:rPr>
              <a:t>Student reports: </a:t>
            </a:r>
            <a:r>
              <a:rPr b="1" sz="1500" i="0" u="none">
                <a:solidFill>
                  <a:srgbClr val="FFFFFF"/>
                </a:solidFill>
                <a:latin typeface="Inter"/>
              </a:rPr>
              <a:t>"Bus AC not working"</a:t>
            </a:r>
            <a:r>
              <a:rPr b="0" sz="1500" i="0" u="none">
                <a:solidFill>
                  <a:srgbClr val="FFFFFF"/>
                </a:solidFill>
                <a:latin typeface="Inter"/>
              </a:rPr>
              <a:t>. Category: </a:t>
            </a:r>
            <a:r>
              <a:rPr b="1" sz="1500" i="0" u="none">
                <a:solidFill>
                  <a:srgbClr val="FFFFFF"/>
                </a:solidFill>
                <a:latin typeface="Inter"/>
              </a:rPr>
              <a:t>Transport</a:t>
            </a:r>
            <a:r>
              <a:rPr b="0" sz="1500" i="0" u="none">
                <a:solidFill>
                  <a:srgbClr val="FFFFFF"/>
                </a:solidFill>
                <a:latin typeface="Inter"/>
              </a:rPr>
              <a:t>. Location: </a:t>
            </a:r>
            <a:r>
              <a:rPr b="1" sz="1500" i="0" u="none">
                <a:solidFill>
                  <a:srgbClr val="FFFFFF"/>
                </a:solidFill>
                <a:latin typeface="Inter"/>
              </a:rPr>
              <a:t>Bus No 3</a:t>
            </a:r>
            <a:r>
              <a:rPr b="0" sz="1500" i="0" u="none">
                <a:solidFill>
                  <a:srgbClr val="FFFFFF"/>
                </a:solidFill>
                <a:latin typeface="Inter"/>
              </a:rPr>
              <a:t>. Priority: </a:t>
            </a:r>
            <a:r>
              <a:rPr b="1" sz="1500" i="0" u="none">
                <a:solidFill>
                  <a:srgbClr val="FFFFFF"/>
                </a:solidFill>
                <a:latin typeface="Inter"/>
              </a:rPr>
              <a:t>HIGH</a:t>
            </a:r>
            <a:r>
              <a:rPr b="0" sz="1500" i="0" u="none">
                <a:solidFill>
                  <a:srgbClr val="FFFFFF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38475"/>
            <a:ext cx="2524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A97B0"/>
                </a:solidFill>
                <a:latin typeface="Inter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05175"/>
            <a:ext cx="21145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1E293B"/>
                </a:solidFill>
                <a:latin typeface="Inter"/>
              </a:rPr>
              <a:t>System auto-maps to Transport Dept.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5700" y="3038475"/>
            <a:ext cx="2524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A97B0"/>
                </a:solidFill>
                <a:latin typeface="Inter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95700" y="3305175"/>
            <a:ext cx="21145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1E293B"/>
                </a:solidFill>
                <a:latin typeface="Inter"/>
              </a:rPr>
              <a:t>Staff views task on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038475"/>
            <a:ext cx="2524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A97B0"/>
                </a:solidFill>
                <a:latin typeface="Inter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3305175"/>
            <a:ext cx="25241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1E293B"/>
                </a:solidFill>
                <a:latin typeface="Inter"/>
              </a:rPr>
              <a:t>Staff marks resolved.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3038475"/>
            <a:ext cx="2524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A97B0"/>
                </a:solidFill>
                <a:latin typeface="Inter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300" y="3305175"/>
            <a:ext cx="252412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1E293B"/>
                </a:solidFill>
                <a:latin typeface="Inter"/>
              </a:rPr>
              <a:t>Student rates the fix.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6475" y="1257300"/>
            <a:ext cx="19050" cy="41148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90700"/>
            <a:ext cx="257175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247900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705100"/>
            <a:ext cx="2857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162300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1795462"/>
            <a:ext cx="257175" cy="238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2247900"/>
            <a:ext cx="2857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2705100"/>
            <a:ext cx="2857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3162300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B192C"/>
                </a:solidFill>
                <a:latin typeface="Montserrat"/>
              </a:rPr>
              <a:t>Outcomes &amp; 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391275"/>
            <a:ext cx="8858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49050" y="6391275"/>
            <a:ext cx="4191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257300"/>
            <a:ext cx="688836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B192C"/>
                </a:solidFill>
                <a:latin typeface="Montserrat"/>
              </a:rPr>
              <a:t>Expected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1257300"/>
            <a:ext cx="58578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B192C"/>
                </a:solidFill>
                <a:latin typeface="Montserrat"/>
              </a:rPr>
              <a:t>Future Scope (Planned)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1762125"/>
            <a:ext cx="61507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Better complaint visibility.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2219325"/>
            <a:ext cx="61793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Centralized digital records.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750" y="2676525"/>
            <a:ext cx="61221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Improved staff accountability.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" y="3133725"/>
            <a:ext cx="61793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Data-driven trend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3700" y="1762125"/>
            <a:ext cx="54483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Native Android application.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275" y="2219325"/>
            <a:ext cx="54197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Cloud DB (Multi-campus).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2676525"/>
            <a:ext cx="54197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AI priority prediction.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5125" y="3133725"/>
            <a:ext cx="54768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A97B0"/>
                </a:solidFill>
                <a:latin typeface="Inter"/>
              </a:rPr>
              <a:t>Duplicate anomaly detection.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3043237"/>
            <a:ext cx="7620000" cy="2057400"/>
          </a:xfrm>
          <a:prstGeom prst="roundRect">
            <a:avLst>
              <a:gd name="adj" fmla="val 5555"/>
            </a:avLst>
          </a:prstGeom>
          <a:solidFill>
            <a:srgbClr val="172537"/>
          </a:solidFill>
          <a:ln w="9525">
            <a:solidFill>
              <a:srgbClr val="2330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95612" y="3814762"/>
            <a:ext cx="1409700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33912" y="3814762"/>
            <a:ext cx="1533525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96037" y="3814762"/>
            <a:ext cx="1238250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2887" y="3814762"/>
            <a:ext cx="1333500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295900" y="4414837"/>
            <a:ext cx="1600200" cy="371475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A97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5793" y="1757362"/>
            <a:ext cx="3300412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0093" y="2462212"/>
            <a:ext cx="3071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0A97B0"/>
                </a:solidFill>
                <a:latin typeface="Inter"/>
              </a:rPr>
              <a:t>Questions &amp;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7926" y="3357562"/>
            <a:ext cx="917614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Montserrat"/>
              </a:rPr>
              <a:t>PROJECT EXECUTION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890962"/>
            <a:ext cx="14573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Sufiyan Khan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621" y="3890962"/>
            <a:ext cx="161210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Sufiyan Nagori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3656" y="3890962"/>
            <a:ext cx="124301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Roshan Jat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600" y="3890962"/>
            <a:ext cx="13620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Sumit Yadav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275" y="4491037"/>
            <a:ext cx="16954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Divyanshu Geel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447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95462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0032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32529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Montserrat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3462"/>
            <a:ext cx="10203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https://www.southampton.ac.uk/sites/default/files/styles/large/public/2020-06/boldrewood-exterior-sunny-day.jpg.webp?itok=JBIZVNCS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3487"/>
            <a:ext cx="2976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www.southampton.ac.uk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762125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https://media.istockphoto.com/id/2165204882/photo/messy-file-folders-and-business-records-red-tape-bureaucracy-overworked-beat-the-clock.jpg?s=612x612&amp;w=0&amp;k=20&amp;c=sUv8uG8bAO0WQmbAIfC8NYkZFNyKwPBx3XxFZ2Y709s=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114550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43187"/>
            <a:ext cx="492918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https://miro.medium.com/v2/resize:fit:1400/0*-T8JClBXfWAN6ZU_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843212"/>
            <a:ext cx="19169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